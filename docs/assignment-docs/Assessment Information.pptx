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7" r:id="rId14"/>
    <p:sldId id="318" r:id="rId15"/>
    <p:sldId id="319" r:id="rId16"/>
    <p:sldId id="314" r:id="rId17"/>
    <p:sldId id="315" r:id="rId18"/>
    <p:sldId id="316" r:id="rId19"/>
    <p:sldId id="30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E4E9B6C-04EC-47DE-8163-045BB258DB21}">
          <p14:sldIdLst>
            <p14:sldId id="256"/>
            <p14:sldId id="258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7"/>
            <p14:sldId id="318"/>
            <p14:sldId id="319"/>
            <p14:sldId id="314"/>
            <p14:sldId id="315"/>
            <p14:sldId id="316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76E2A-D689-4F40-B15E-06282F0A1011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6336C-F224-42AA-914B-46DB07E94A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22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4D64-6381-4626-BB8D-DB5756658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9F943-C403-4BC0-8543-7A30D5499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C99FF-12E7-4FA1-B239-1E712AC0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EC6A-3C92-42B4-82C7-1E3985C4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5891-DB6C-4CB2-A52E-F9FC4842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61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AB59-9BBF-4731-A125-B1B69D99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B194D-3522-4B01-AC49-345B93B96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79221-045A-41CA-8697-49313AFF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1C80-9B6A-406C-BEBC-59A87CCE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C7C4E-DF0A-4DBD-A619-E878603E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14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54DD-E44B-4B43-85DF-3D9B4301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A7E1C-8E57-479A-B13E-73C8F5E20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EA2B-B6ED-431E-B577-1E6FC0C3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B35EB-06B1-47F4-AF41-9DD89536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2850C-F7D4-499E-9424-9B2DAFA3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61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78CF-DB54-4A6C-816E-AD211477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5DF9-4C6F-479D-BE06-50E8662E8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9EF03-31A1-4D56-9A0A-9A5C4EE46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8AAFE-455C-4249-ABED-E2B33A21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50818-8D6E-4CE1-B830-1A8E0C48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00914-FEFB-4F9E-9F40-ED246795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24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B912-DDFF-41EA-B66C-E9BAD714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BBB50-52EA-43EA-9377-BCBE5E4C9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50C66-7E58-4449-91C0-10E98D67F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63DD8-5FC6-4CDC-AEF8-FD831F591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DC791-86BD-4931-AE0B-6AE157AE9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9C38B-11EE-4E63-9E7C-CB1C886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ABB3F-6AB3-4AB2-B83D-431BFE96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A8567-F145-480B-8739-13734907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99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FED4-8ECB-4414-8939-0C1770D50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3DA56-C8D9-468B-B398-4D636E028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91977-6217-45D2-9570-74066E91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219DC-5763-452C-8618-3E2143D7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78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75876-A342-4B54-BB6C-A21ADE90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78BC5-DF47-4CC8-BF02-C7F5CA83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5FC67-2F91-4412-BB60-B59FCAF5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89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7531-494D-4D4B-B1BF-38F0988F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5B1CF-AAB5-4F69-AB77-713580542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38EFE-9BBD-4E98-83E0-54A6529B1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89230-A92A-4B1C-A4C3-27F3CB86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1E81A-192B-4B4F-825A-7913817B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B11B1-72BF-4398-9A12-07030FA4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7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C61E-F029-4B1B-99F8-62945599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770CD-0781-41B4-9480-B2D1B2488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C5451-F912-400E-B835-64480852A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29127-2652-4C1E-836A-714915AC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10B88-A83E-4ECB-A121-F72FFED7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8536B-2CA5-410A-B0EB-BDD661EF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88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B390-9717-422D-AFF0-88FF7DD1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977A7-1F7B-431A-BB0B-864EA3B3D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807D4-C5C1-4B98-A895-6DA32F48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6EBE-49B5-483A-A987-1BCBC876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2F499-EF2D-4A1B-87A5-D1780F10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33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33947-2A1D-48C5-99B0-F59691CFD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7B81A-465D-48DA-A56E-10EBCE55D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5AADD-8AA7-44A9-B5AC-108959DE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39202-F822-4BDB-8693-E6D06EAB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91DB-6D23-4DC9-B28E-FF39F015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85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37C6E-1CD7-4DF0-8BC8-CDFD78898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79511-B62E-4277-A196-C08CD5AB9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4E594-222E-4164-95E0-A943334DA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Machine Intelligence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8D865-A121-4EF6-87C0-4E001AB56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45BB-4FF1-4BE6-A3B9-3A67F17FD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EF5A9-EDE4-4C03-BE6B-F335C1805C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62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pandey@bournemouth.ac.uk" TargetMode="External"/><Relationship Id="rId2" Type="http://schemas.openxmlformats.org/officeDocument/2006/relationships/hyperlink" Target="https://staffprofiles.bournemouth.ac.uk/display/hpandey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t/d9310f0a07e0982afae3e4e669559331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kaggle.com/competitions/budl2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hpandey@bournemouth.ac.uk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256448-2B98-4490-A558-C0BFE8462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711" y="451059"/>
            <a:ext cx="6475445" cy="1435219"/>
          </a:xfrm>
        </p:spPr>
        <p:txBody>
          <a:bodyPr>
            <a:normAutofit fontScale="92500" lnSpcReduction="20000"/>
          </a:bodyPr>
          <a:lstStyle/>
          <a:p>
            <a:r>
              <a:rPr lang="en-GB" sz="3600" b="1" dirty="0"/>
              <a:t>Deep Learning and Application</a:t>
            </a:r>
          </a:p>
          <a:p>
            <a:r>
              <a:rPr lang="en-GB" sz="3200" b="1" dirty="0"/>
              <a:t>Unit Assessment</a:t>
            </a:r>
          </a:p>
          <a:p>
            <a:r>
              <a:rPr lang="en-GB" sz="3200" b="1" dirty="0">
                <a:highlight>
                  <a:srgbClr val="FFFF00"/>
                </a:highlight>
              </a:rPr>
              <a:t>(Coursework Brief)</a:t>
            </a:r>
          </a:p>
          <a:p>
            <a:endParaRPr lang="en-GB" dirty="0"/>
          </a:p>
        </p:txBody>
      </p:sp>
      <p:sp>
        <p:nvSpPr>
          <p:cNvPr id="117" name="Subtitle 2">
            <a:extLst>
              <a:ext uri="{FF2B5EF4-FFF2-40B4-BE49-F238E27FC236}">
                <a16:creationId xmlns:a16="http://schemas.microsoft.com/office/drawing/2014/main" id="{A451C384-5F64-4BD0-B3A9-BD220B5C795B}"/>
              </a:ext>
            </a:extLst>
          </p:cNvPr>
          <p:cNvSpPr txBox="1">
            <a:spLocks/>
          </p:cNvSpPr>
          <p:nvPr/>
        </p:nvSpPr>
        <p:spPr>
          <a:xfrm>
            <a:off x="5906422" y="3233329"/>
            <a:ext cx="6120590" cy="2179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Dr. Hari Mohan Pandey</a:t>
            </a:r>
          </a:p>
          <a:p>
            <a:r>
              <a:rPr lang="en-GB" sz="1400" b="1" dirty="0"/>
              <a:t>Data Science and Artificial Intelligence </a:t>
            </a:r>
          </a:p>
          <a:p>
            <a:r>
              <a:rPr lang="en-GB" sz="1400" b="1" dirty="0"/>
              <a:t>School of Computing &amp; Engineering, Bournemouth University</a:t>
            </a:r>
          </a:p>
          <a:p>
            <a:r>
              <a:rPr lang="en-GB" sz="1400" b="1" dirty="0"/>
              <a:t>Office: P302, Poole House</a:t>
            </a:r>
          </a:p>
          <a:p>
            <a:r>
              <a:rPr lang="en-GB" sz="1400" b="1" dirty="0">
                <a:hlinkClick r:id="rId2"/>
              </a:rPr>
              <a:t>https://staffprofiles.bournemouth.ac.uk/display/hpandey</a:t>
            </a:r>
            <a:r>
              <a:rPr lang="en-GB" sz="1400" b="1" dirty="0"/>
              <a:t> </a:t>
            </a:r>
          </a:p>
          <a:p>
            <a:r>
              <a:rPr lang="en-GB" sz="1400" b="1" dirty="0">
                <a:hlinkClick r:id="rId3"/>
              </a:rPr>
              <a:t>hpandey@bournemouth.ac.uk</a:t>
            </a:r>
            <a:r>
              <a:rPr lang="en-GB" sz="1400" b="1" dirty="0"/>
              <a:t> </a:t>
            </a:r>
          </a:p>
          <a:p>
            <a:endParaRPr lang="en-GB" sz="1400" dirty="0"/>
          </a:p>
        </p:txBody>
      </p:sp>
      <p:pic>
        <p:nvPicPr>
          <p:cNvPr id="1026" name="Picture 2" descr="Bournemouth University - Southern Universities Network">
            <a:extLst>
              <a:ext uri="{FF2B5EF4-FFF2-40B4-BE49-F238E27FC236}">
                <a16:creationId xmlns:a16="http://schemas.microsoft.com/office/drawing/2014/main" id="{1C38324A-063A-43A6-8511-88264EF1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814" y="5941271"/>
            <a:ext cx="2650186" cy="91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20 Deep Learning Applications in 2025 Across Industries | Great Learning">
            <a:extLst>
              <a:ext uri="{FF2B5EF4-FFF2-40B4-BE49-F238E27FC236}">
                <a16:creationId xmlns:a16="http://schemas.microsoft.com/office/drawing/2014/main" id="{1765ADB4-3EC1-DDA4-0284-7A20ADBEE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91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80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E51E-E190-46DF-AA66-650F39632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16729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A628-F823-4F4E-9C54-F234ADAC4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88" y="1520005"/>
            <a:ext cx="10960224" cy="4600138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/>
              <a:t>Introduction to Coursework Brief.</a:t>
            </a:r>
          </a:p>
          <a:p>
            <a:r>
              <a:rPr lang="en-GB" sz="2400" dirty="0"/>
              <a:t>Use of Generative AI</a:t>
            </a:r>
          </a:p>
          <a:p>
            <a:r>
              <a:rPr lang="en-GB" sz="2400" dirty="0"/>
              <a:t>About the Tasks</a:t>
            </a:r>
          </a:p>
          <a:p>
            <a:r>
              <a:rPr lang="en-GB" sz="2400" dirty="0"/>
              <a:t>Background Information</a:t>
            </a:r>
          </a:p>
          <a:p>
            <a:r>
              <a:rPr lang="en-GB" sz="2400" dirty="0"/>
              <a:t>Dataset Description</a:t>
            </a:r>
          </a:p>
          <a:p>
            <a:r>
              <a:rPr lang="en-GB" sz="2400" dirty="0"/>
              <a:t>Kaggle Competition</a:t>
            </a:r>
          </a:p>
          <a:p>
            <a:r>
              <a:rPr lang="en-GB" sz="2400" dirty="0"/>
              <a:t>Assessment Requirements </a:t>
            </a:r>
          </a:p>
          <a:p>
            <a:r>
              <a:rPr lang="en-GB" sz="2400" dirty="0"/>
              <a:t>Technical and Report Structure.</a:t>
            </a:r>
          </a:p>
          <a:p>
            <a:r>
              <a:rPr lang="en-GB" sz="2400" dirty="0"/>
              <a:t>Intended Learning Outcomes</a:t>
            </a:r>
          </a:p>
          <a:p>
            <a:r>
              <a:rPr lang="en-GB" sz="2400" dirty="0"/>
              <a:t>Submission Template</a:t>
            </a:r>
          </a:p>
          <a:p>
            <a:r>
              <a:rPr lang="en-GB" sz="2400" dirty="0"/>
              <a:t>Marking Criteria</a:t>
            </a:r>
          </a:p>
          <a:p>
            <a:r>
              <a:rPr lang="en-GB" sz="2400" dirty="0"/>
              <a:t>Office Hours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CE9C0-5BD3-406A-B066-FC9FAD59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53204" y="6492875"/>
            <a:ext cx="4114800" cy="365125"/>
          </a:xfrm>
        </p:spPr>
        <p:txBody>
          <a:bodyPr/>
          <a:lstStyle/>
          <a:p>
            <a:r>
              <a:rPr lang="en-GB" dirty="0"/>
              <a:t>Dr H. M. Pandey</a:t>
            </a:r>
          </a:p>
        </p:txBody>
      </p:sp>
      <p:pic>
        <p:nvPicPr>
          <p:cNvPr id="7" name="Picture 2" descr="Bournemouth University - Southern Universities Network">
            <a:extLst>
              <a:ext uri="{FF2B5EF4-FFF2-40B4-BE49-F238E27FC236}">
                <a16:creationId xmlns:a16="http://schemas.microsoft.com/office/drawing/2014/main" id="{5C7C420E-4AE7-4212-9232-3162740C8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244" y="6317686"/>
            <a:ext cx="1601755" cy="5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reating a Productive Meeting Agenda | Virtual Meeting Management">
            <a:extLst>
              <a:ext uri="{FF2B5EF4-FFF2-40B4-BE49-F238E27FC236}">
                <a16:creationId xmlns:a16="http://schemas.microsoft.com/office/drawing/2014/main" id="{13CB5C50-5F0A-4F7B-AE27-1FC7DF9C5A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1" t="11664" r="13213" b="8102"/>
          <a:stretch/>
        </p:blipFill>
        <p:spPr bwMode="auto">
          <a:xfrm>
            <a:off x="7281321" y="934984"/>
            <a:ext cx="4562337" cy="528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80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07EF-6B47-5297-C040-BAB5A4093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Introduction to Coursework Brief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20F4A-F3F7-BE09-445D-2BB9BF59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8D4D5-0B7C-60CA-EAD1-849C6580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5EE68-351A-36D4-7F71-F3950604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02" y="1556180"/>
            <a:ext cx="10534650" cy="1085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F42A60-6F5D-75AC-4019-FB205E735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2" y="2854392"/>
            <a:ext cx="105156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1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C672-B8CD-CB02-27E3-04052F13C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Use of Generative AI Tools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FC74-D51D-D355-5AC0-478391B0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BF96D-4C5B-079B-A1A0-CD327146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B1EF0-6F7C-8450-98AE-0C2D8BE47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78" y="1946382"/>
            <a:ext cx="10664791" cy="281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63EB-CBBD-04B7-217D-3CB166EA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EDC8E-C6C0-AB5B-74BB-816E97A8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0" y="1448554"/>
            <a:ext cx="11316832" cy="472840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/>
              <a:t>This is an </a:t>
            </a:r>
            <a:r>
              <a:rPr lang="en-GB" dirty="0">
                <a:highlight>
                  <a:srgbClr val="FFFF00"/>
                </a:highlight>
              </a:rPr>
              <a:t>individual assignment </a:t>
            </a:r>
            <a:r>
              <a:rPr lang="en-GB" dirty="0"/>
              <a:t>which addresses all </a:t>
            </a:r>
            <a:r>
              <a:rPr lang="en-GB" dirty="0">
                <a:highlight>
                  <a:srgbClr val="FFFF00"/>
                </a:highlight>
              </a:rPr>
              <a:t>four Intended Learning Outcomes (ILOs)</a:t>
            </a:r>
            <a:r>
              <a:rPr lang="en-GB" dirty="0"/>
              <a:t> for this unit.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lnSpc>
                <a:spcPct val="160000"/>
              </a:lnSpc>
              <a:buNone/>
            </a:pPr>
            <a:r>
              <a:rPr lang="en-GB" dirty="0"/>
              <a:t>Your task is to </a:t>
            </a:r>
            <a:r>
              <a:rPr lang="en-GB" dirty="0">
                <a:solidFill>
                  <a:srgbClr val="FF0000"/>
                </a:solidFill>
              </a:rPr>
              <a:t>design</a:t>
            </a:r>
            <a:r>
              <a:rPr lang="en-GB" dirty="0"/>
              <a:t>, </a:t>
            </a:r>
            <a:r>
              <a:rPr lang="en-GB" dirty="0">
                <a:solidFill>
                  <a:srgbClr val="0000FF"/>
                </a:solidFill>
              </a:rPr>
              <a:t>implement</a:t>
            </a:r>
            <a:r>
              <a:rPr lang="en-GB" dirty="0"/>
              <a:t>, and </a:t>
            </a:r>
            <a:r>
              <a:rPr lang="en-GB" dirty="0">
                <a:solidFill>
                  <a:srgbClr val="7030A0"/>
                </a:solidFill>
              </a:rPr>
              <a:t>evaluate</a:t>
            </a:r>
            <a:r>
              <a:rPr lang="en-GB" dirty="0"/>
              <a:t> a </a:t>
            </a:r>
            <a:r>
              <a:rPr lang="en-GB" dirty="0">
                <a:solidFill>
                  <a:srgbClr val="FF0000"/>
                </a:solidFill>
              </a:rPr>
              <a:t>deep learning-based classifier </a:t>
            </a:r>
            <a:r>
              <a:rPr lang="en-GB" dirty="0"/>
              <a:t>to </a:t>
            </a:r>
            <a:r>
              <a:rPr lang="en-GB" dirty="0">
                <a:solidFill>
                  <a:srgbClr val="0033CC"/>
                </a:solidFill>
              </a:rPr>
              <a:t>solve an image classification problem</a:t>
            </a:r>
            <a:r>
              <a:rPr lang="en-GB" dirty="0"/>
              <a:t> within </a:t>
            </a:r>
            <a:r>
              <a:rPr lang="en-GB" dirty="0">
                <a:solidFill>
                  <a:srgbClr val="FF0000"/>
                </a:solidFill>
              </a:rPr>
              <a:t>a competitive Kaggle environment</a:t>
            </a:r>
            <a:r>
              <a:rPr lang="en-GB" dirty="0"/>
              <a:t>. You will be required to </a:t>
            </a:r>
            <a:r>
              <a:rPr lang="en-GB" dirty="0">
                <a:highlight>
                  <a:srgbClr val="FFFF00"/>
                </a:highlight>
              </a:rPr>
              <a:t>build a model from scratch to establish a baseline</a:t>
            </a:r>
            <a:r>
              <a:rPr lang="en-GB" dirty="0"/>
              <a:t>, systematically experiment with </a:t>
            </a:r>
            <a:r>
              <a:rPr lang="en-GB" dirty="0">
                <a:highlight>
                  <a:srgbClr val="00FFFF"/>
                </a:highlight>
              </a:rPr>
              <a:t>a range of techniques to improve performance</a:t>
            </a:r>
            <a:r>
              <a:rPr lang="en-GB" dirty="0"/>
              <a:t>, and </a:t>
            </a:r>
            <a:r>
              <a:rPr lang="en-GB" dirty="0">
                <a:highlight>
                  <a:srgbClr val="00FF00"/>
                </a:highlight>
              </a:rPr>
              <a:t>leverage state-of-the-art pre-trained models</a:t>
            </a:r>
            <a:r>
              <a:rPr lang="en-GB" dirty="0"/>
              <a:t>. The entire project, including all </a:t>
            </a:r>
            <a:r>
              <a:rPr lang="en-GB" dirty="0">
                <a:highlight>
                  <a:srgbClr val="FFFF00"/>
                </a:highlight>
              </a:rPr>
              <a:t>code, analysis, and a comprehensive report</a:t>
            </a:r>
            <a:r>
              <a:rPr lang="en-GB" dirty="0"/>
              <a:t>, must be </a:t>
            </a:r>
            <a:r>
              <a:rPr lang="en-GB" dirty="0">
                <a:highlight>
                  <a:srgbClr val="00FF00"/>
                </a:highlight>
              </a:rPr>
              <a:t>submitted as a single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self-contained </a:t>
            </a:r>
            <a:r>
              <a:rPr lang="en-GB" dirty="0" err="1">
                <a:highlight>
                  <a:srgbClr val="FFFF00"/>
                </a:highlight>
              </a:rPr>
              <a:t>Jupyter</a:t>
            </a:r>
            <a:r>
              <a:rPr lang="en-GB" dirty="0">
                <a:highlight>
                  <a:srgbClr val="FFFF00"/>
                </a:highlight>
              </a:rPr>
              <a:t> Notebook</a:t>
            </a:r>
            <a:r>
              <a:rPr lang="en-GB" dirty="0"/>
              <a:t>, accompanied by </a:t>
            </a:r>
            <a:r>
              <a:rPr lang="en-GB" dirty="0">
                <a:highlight>
                  <a:srgbClr val="00FF00"/>
                </a:highlight>
              </a:rPr>
              <a:t>a short video presentation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33F33-19D8-AF24-0D62-81222E7E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63C59-BB2E-C218-F4D5-B181817A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04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C129-33A3-4743-EC51-9AC931AD2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6A188-F339-D459-4DC2-753516ED2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06" y="1665287"/>
            <a:ext cx="11552222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You have been </a:t>
            </a:r>
            <a:r>
              <a:rPr lang="en-GB" dirty="0">
                <a:solidFill>
                  <a:srgbClr val="FF0000"/>
                </a:solidFill>
              </a:rPr>
              <a:t>contracted</a:t>
            </a:r>
            <a:r>
              <a:rPr lang="en-GB" dirty="0"/>
              <a:t> as a </a:t>
            </a:r>
            <a:r>
              <a:rPr lang="en-GB" dirty="0">
                <a:solidFill>
                  <a:srgbClr val="0000FF"/>
                </a:solidFill>
              </a:rPr>
              <a:t>Deep Learning Engineer </a:t>
            </a:r>
            <a:r>
              <a:rPr lang="en-GB" dirty="0"/>
              <a:t>to </a:t>
            </a:r>
            <a:r>
              <a:rPr lang="en-GB" dirty="0">
                <a:solidFill>
                  <a:srgbClr val="7030A0"/>
                </a:solidFill>
              </a:rPr>
              <a:t>develop a proof-of-concept system</a:t>
            </a:r>
            <a:r>
              <a:rPr lang="en-GB" dirty="0"/>
              <a:t> for </a:t>
            </a:r>
            <a:r>
              <a:rPr lang="en-GB" dirty="0">
                <a:highlight>
                  <a:srgbClr val="00FF00"/>
                </a:highlight>
              </a:rPr>
              <a:t>forensic analysis</a:t>
            </a:r>
            <a:r>
              <a:rPr lang="en-GB" dirty="0"/>
              <a:t>. The </a:t>
            </a:r>
            <a:r>
              <a:rPr lang="en-GB" dirty="0">
                <a:solidFill>
                  <a:srgbClr val="FF0000"/>
                </a:solidFill>
              </a:rPr>
              <a:t>goal is to automatically predict </a:t>
            </a:r>
            <a:r>
              <a:rPr lang="en-GB" dirty="0"/>
              <a:t>an </a:t>
            </a:r>
            <a:r>
              <a:rPr lang="en-GB" dirty="0">
                <a:highlight>
                  <a:srgbClr val="FFFF00"/>
                </a:highlight>
              </a:rPr>
              <a:t>individual's sex </a:t>
            </a:r>
            <a:r>
              <a:rPr lang="en-GB" dirty="0"/>
              <a:t>based on </a:t>
            </a:r>
            <a:r>
              <a:rPr lang="en-GB" dirty="0">
                <a:solidFill>
                  <a:srgbClr val="0033CC"/>
                </a:solidFill>
              </a:rPr>
              <a:t>images of their footprint</a:t>
            </a:r>
            <a:r>
              <a:rPr lang="en-GB" dirty="0"/>
              <a:t>. Such a </a:t>
            </a:r>
            <a:r>
              <a:rPr lang="en-GB" dirty="0">
                <a:solidFill>
                  <a:srgbClr val="0033CC"/>
                </a:solidFill>
              </a:rPr>
              <a:t>tool</a:t>
            </a:r>
            <a:r>
              <a:rPr lang="en-GB" dirty="0"/>
              <a:t> could help </a:t>
            </a:r>
            <a:r>
              <a:rPr lang="en-GB" dirty="0">
                <a:solidFill>
                  <a:srgbClr val="FF0000"/>
                </a:solidFill>
              </a:rPr>
              <a:t>investigators narrow down</a:t>
            </a:r>
            <a:r>
              <a:rPr lang="en-GB" dirty="0"/>
              <a:t> the field of </a:t>
            </a:r>
            <a:r>
              <a:rPr lang="en-GB" dirty="0">
                <a:solidFill>
                  <a:srgbClr val="0000FF"/>
                </a:solidFill>
              </a:rPr>
              <a:t>potential suspects </a:t>
            </a:r>
            <a:r>
              <a:rPr lang="en-GB" dirty="0"/>
              <a:t>in a </a:t>
            </a:r>
            <a:r>
              <a:rPr lang="en-GB" dirty="0">
                <a:solidFill>
                  <a:srgbClr val="FF0000"/>
                </a:solidFill>
              </a:rPr>
              <a:t>criminal investigation</a:t>
            </a:r>
            <a:r>
              <a:rPr lang="en-GB" dirty="0"/>
              <a:t>. </a:t>
            </a:r>
            <a:r>
              <a:rPr lang="en-GB" dirty="0">
                <a:highlight>
                  <a:srgbClr val="FFFF00"/>
                </a:highlight>
              </a:rPr>
              <a:t>Your task </a:t>
            </a:r>
            <a:r>
              <a:rPr lang="en-GB" dirty="0"/>
              <a:t>is to </a:t>
            </a:r>
            <a:r>
              <a:rPr lang="en-GB" dirty="0">
                <a:highlight>
                  <a:srgbClr val="00FF00"/>
                </a:highlight>
              </a:rPr>
              <a:t>build</a:t>
            </a:r>
            <a:r>
              <a:rPr lang="en-GB" dirty="0"/>
              <a:t> the </a:t>
            </a:r>
            <a:r>
              <a:rPr lang="en-GB" dirty="0">
                <a:highlight>
                  <a:srgbClr val="00FFFF"/>
                </a:highlight>
              </a:rPr>
              <a:t>most accurate predictive model </a:t>
            </a:r>
            <a:r>
              <a:rPr lang="en-GB" dirty="0"/>
              <a:t>using </a:t>
            </a:r>
            <a:r>
              <a:rPr lang="en-GB" dirty="0">
                <a:highlight>
                  <a:srgbClr val="00FF00"/>
                </a:highlight>
              </a:rPr>
              <a:t>modern deep learning techniques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47FC1-6C90-8AFA-EE7E-B3503A35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ACD1F-DAC2-8707-F85B-F9371795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7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42E2-A1F8-C2DF-996B-2BF7DE20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DATASET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EE0B-A4C2-2CBE-387E-953A54235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15" y="1825625"/>
            <a:ext cx="11343992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The </a:t>
            </a:r>
            <a:r>
              <a:rPr lang="en-GB" dirty="0">
                <a:highlight>
                  <a:srgbClr val="00FF00"/>
                </a:highlight>
              </a:rPr>
              <a:t>image dataset </a:t>
            </a:r>
            <a:r>
              <a:rPr lang="en-GB" dirty="0"/>
              <a:t>for this assignment will be provided via a </a:t>
            </a:r>
            <a:r>
              <a:rPr lang="en-GB" dirty="0">
                <a:highlight>
                  <a:srgbClr val="00FFFF"/>
                </a:highlight>
              </a:rPr>
              <a:t>private Kaggle competition</a:t>
            </a:r>
            <a:r>
              <a:rPr lang="en-GB" dirty="0"/>
              <a:t>. The </a:t>
            </a:r>
            <a:r>
              <a:rPr lang="en-GB" dirty="0">
                <a:solidFill>
                  <a:srgbClr val="FF0000"/>
                </a:solidFill>
              </a:rPr>
              <a:t>training set </a:t>
            </a:r>
            <a:r>
              <a:rPr lang="en-GB" dirty="0"/>
              <a:t>contains </a:t>
            </a:r>
            <a:r>
              <a:rPr lang="en-GB" dirty="0">
                <a:highlight>
                  <a:srgbClr val="FFFF00"/>
                </a:highlight>
              </a:rPr>
              <a:t>1,573 footprint images</a:t>
            </a:r>
            <a:r>
              <a:rPr lang="en-GB" dirty="0"/>
              <a:t>, each </a:t>
            </a:r>
            <a:r>
              <a:rPr lang="en-GB" dirty="0">
                <a:solidFill>
                  <a:srgbClr val="FF0000"/>
                </a:solidFill>
              </a:rPr>
              <a:t>labelled</a:t>
            </a:r>
            <a:r>
              <a:rPr lang="en-GB" dirty="0"/>
              <a:t> with the </a:t>
            </a:r>
            <a:r>
              <a:rPr lang="en-GB" dirty="0">
                <a:solidFill>
                  <a:srgbClr val="0033CC"/>
                </a:solidFill>
              </a:rPr>
              <a:t>corresponding sex (0/1)</a:t>
            </a:r>
            <a:r>
              <a:rPr lang="en-GB" dirty="0"/>
              <a:t>. A separate </a:t>
            </a:r>
            <a:r>
              <a:rPr lang="en-GB" dirty="0">
                <a:solidFill>
                  <a:srgbClr val="0033CC"/>
                </a:solidFill>
              </a:rPr>
              <a:t>test set of 1,055 images </a:t>
            </a:r>
            <a:r>
              <a:rPr lang="en-GB" dirty="0"/>
              <a:t>is provided </a:t>
            </a:r>
            <a:r>
              <a:rPr lang="en-GB" dirty="0">
                <a:solidFill>
                  <a:srgbClr val="0033CC"/>
                </a:solidFill>
              </a:rPr>
              <a:t>without labels</a:t>
            </a:r>
            <a:r>
              <a:rPr lang="en-GB" dirty="0"/>
              <a:t>, which you will use to </a:t>
            </a:r>
            <a:r>
              <a:rPr lang="en-GB" dirty="0">
                <a:solidFill>
                  <a:srgbClr val="0033CC"/>
                </a:solidFill>
              </a:rPr>
              <a:t>generate predictions </a:t>
            </a:r>
            <a:r>
              <a:rPr lang="en-GB" dirty="0"/>
              <a:t>for </a:t>
            </a:r>
            <a:r>
              <a:rPr lang="en-GB" dirty="0">
                <a:solidFill>
                  <a:srgbClr val="0033CC"/>
                </a:solidFill>
              </a:rPr>
              <a:t>submission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1AC-FB8D-0402-88F4-454A999F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E54CC-28FD-748D-BF11-297B2C53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30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2942-852B-4BF3-F359-7FC09831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KAGGLE COMPETITION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2B2B-70A2-0240-EA55-1E7CF1DE5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8" y="1343818"/>
            <a:ext cx="11624650" cy="5012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To join the Kaggle competition:</a:t>
            </a:r>
          </a:p>
          <a:p>
            <a:pPr lvl="1" algn="just"/>
            <a:r>
              <a:rPr lang="en-GB" sz="2000" dirty="0"/>
              <a:t>Go to </a:t>
            </a:r>
            <a:r>
              <a:rPr lang="en-GB" sz="2000" u="sng" dirty="0">
                <a:hlinkClick r:id="rId2"/>
              </a:rPr>
              <a:t>https://www.kaggle.com</a:t>
            </a:r>
            <a:r>
              <a:rPr lang="en-GB" sz="2000" dirty="0"/>
              <a:t> and create an account.</a:t>
            </a:r>
          </a:p>
          <a:p>
            <a:pPr lvl="1" algn="just"/>
            <a:r>
              <a:rPr lang="en-GB" sz="2000" dirty="0"/>
              <a:t>Sign up for the competition at: </a:t>
            </a:r>
            <a:r>
              <a:rPr lang="en-GB" sz="2000" u="sng" dirty="0">
                <a:hlinkClick r:id="rId3"/>
              </a:rPr>
              <a:t>https://www.kaggle.com/t/d9310f0a07e0982afae3e4e669559331</a:t>
            </a:r>
            <a:r>
              <a:rPr lang="en-GB" sz="2000" dirty="0"/>
              <a:t> </a:t>
            </a:r>
          </a:p>
          <a:p>
            <a:pPr lvl="1" algn="just"/>
            <a:r>
              <a:rPr lang="en-GB" sz="2000" dirty="0"/>
              <a:t>You can use </a:t>
            </a:r>
            <a:r>
              <a:rPr lang="en-GB" sz="2000" u="sng" dirty="0">
                <a:hlinkClick r:id="rId4"/>
              </a:rPr>
              <a:t>http://www.kaggle.com/competitions/budl25</a:t>
            </a:r>
            <a:r>
              <a:rPr lang="en-GB" sz="2000" dirty="0"/>
              <a:t> to access the competition again at any time.</a:t>
            </a:r>
          </a:p>
          <a:p>
            <a:pPr marL="0" indent="0" algn="just">
              <a:buNone/>
            </a:pPr>
            <a:endParaRPr lang="en-GB" sz="700" dirty="0"/>
          </a:p>
          <a:p>
            <a:pPr marL="0" indent="0" algn="just">
              <a:buNone/>
            </a:pPr>
            <a:r>
              <a:rPr lang="en-GB" sz="2000" dirty="0">
                <a:highlight>
                  <a:srgbClr val="FFFF00"/>
                </a:highlight>
              </a:rPr>
              <a:t>You will be required to upload a </a:t>
            </a:r>
            <a:r>
              <a:rPr lang="en-GB" sz="2000" b="1" dirty="0">
                <a:highlight>
                  <a:srgbClr val="FFFF00"/>
                </a:highlight>
              </a:rPr>
              <a:t>.csv file </a:t>
            </a:r>
            <a:r>
              <a:rPr lang="en-GB" sz="2000" dirty="0">
                <a:highlight>
                  <a:srgbClr val="FFFF00"/>
                </a:highlight>
              </a:rPr>
              <a:t>with your predictions for the </a:t>
            </a:r>
            <a:r>
              <a:rPr lang="en-GB" sz="2000" b="1" dirty="0">
                <a:highlight>
                  <a:srgbClr val="FFFF00"/>
                </a:highlight>
              </a:rPr>
              <a:t>test set</a:t>
            </a:r>
            <a:r>
              <a:rPr lang="en-GB" sz="2000" dirty="0"/>
              <a:t>. A sample submission file will be provided on Kaggle to demonstrate the required format.</a:t>
            </a:r>
          </a:p>
          <a:p>
            <a:pPr marL="0" indent="0">
              <a:buNone/>
            </a:pPr>
            <a:endParaRPr lang="en-GB" sz="700" dirty="0"/>
          </a:p>
          <a:p>
            <a:pPr marL="0" indent="0">
              <a:buNone/>
            </a:pPr>
            <a:r>
              <a:rPr lang="en-GB" sz="2000" dirty="0">
                <a:highlight>
                  <a:srgbClr val="FFFF00"/>
                </a:highlight>
              </a:rPr>
              <a:t>You can make a maximum of 5 submissions per day</a:t>
            </a:r>
            <a:r>
              <a:rPr lang="en-GB" sz="2000" dirty="0"/>
              <a:t>. There are </a:t>
            </a:r>
            <a:r>
              <a:rPr lang="en-GB" sz="2000" dirty="0">
                <a:solidFill>
                  <a:srgbClr val="FF0000"/>
                </a:solidFill>
              </a:rPr>
              <a:t>two leaderboards: a public leaderboard based on a portion of the test data, and a private leaderboard based on the remaining data. You can track your progress on the public leaderboard.</a:t>
            </a:r>
            <a:r>
              <a:rPr lang="en-GB" sz="2000" dirty="0"/>
              <a:t> Your final mark will be based on a combination of your position on the private leaderboard and effort demonstrated via the number, frequency and diversity of your submissions.</a:t>
            </a:r>
          </a:p>
          <a:p>
            <a:pPr marL="0" indent="0">
              <a:buNone/>
            </a:pPr>
            <a:endParaRPr lang="en-GB" sz="700" dirty="0"/>
          </a:p>
          <a:p>
            <a:pPr marL="0" indent="0">
              <a:buNone/>
            </a:pPr>
            <a:r>
              <a:rPr lang="en-GB" sz="2000" dirty="0"/>
              <a:t>The </a:t>
            </a:r>
            <a:r>
              <a:rPr lang="en-GB" sz="2000" dirty="0">
                <a:highlight>
                  <a:srgbClr val="FFFF00"/>
                </a:highlight>
              </a:rPr>
              <a:t>Kaggle competition closes 5 days before the submission deadline </a:t>
            </a:r>
            <a:r>
              <a:rPr lang="en-GB" sz="2000" dirty="0"/>
              <a:t>to allow you to finalise your writeup.</a:t>
            </a:r>
          </a:p>
          <a:p>
            <a:pPr marL="0" indent="0" algn="just">
              <a:buNone/>
            </a:pPr>
            <a:endParaRPr lang="en-GB" sz="2400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ED615-9C49-1E82-BEC5-43B897BA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8230-8F03-3553-3EDC-4EFE0E53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66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CC9B-2BD5-36AA-580C-EE9D6A93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ASSIGNMENT REQUIREMENTS: Technical Constraints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1367-8280-307B-C5D1-63EAF540B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46" y="1825625"/>
            <a:ext cx="11642756" cy="435133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GB" b="1" dirty="0"/>
              <a:t>Framework:</a:t>
            </a:r>
            <a:r>
              <a:rPr lang="en-GB" dirty="0"/>
              <a:t> </a:t>
            </a:r>
            <a:r>
              <a:rPr lang="en-GB" dirty="0">
                <a:highlight>
                  <a:srgbClr val="FFFF00"/>
                </a:highlight>
              </a:rPr>
              <a:t>All models must be implemented using </a:t>
            </a:r>
            <a:r>
              <a:rPr lang="en-GB" dirty="0" err="1">
                <a:highlight>
                  <a:srgbClr val="FFFF00"/>
                </a:highlight>
              </a:rPr>
              <a:t>PyTorch</a:t>
            </a:r>
            <a:r>
              <a:rPr lang="en-GB" dirty="0">
                <a:highlight>
                  <a:srgbClr val="FFFF00"/>
                </a:highlight>
              </a:rPr>
              <a:t> ecosystem</a:t>
            </a:r>
            <a:r>
              <a:rPr lang="en-GB" dirty="0"/>
              <a:t>. The use of </a:t>
            </a:r>
            <a:r>
              <a:rPr lang="en-GB" dirty="0" err="1"/>
              <a:t>Keras</a:t>
            </a:r>
            <a:r>
              <a:rPr lang="en-GB" dirty="0"/>
              <a:t>, TensorFlow, or other deep learning frameworks is not permitted. If in doubt, please ask the unit leader.</a:t>
            </a:r>
          </a:p>
          <a:p>
            <a:pPr lvl="0" algn="just"/>
            <a:endParaRPr lang="en-GB" b="1" dirty="0"/>
          </a:p>
          <a:p>
            <a:pPr lvl="0" algn="just">
              <a:lnSpc>
                <a:spcPct val="150000"/>
              </a:lnSpc>
            </a:pPr>
            <a:r>
              <a:rPr lang="en-GB" b="1" dirty="0"/>
              <a:t>Environment:</a:t>
            </a:r>
            <a:r>
              <a:rPr lang="en-GB" dirty="0"/>
              <a:t> Your </a:t>
            </a:r>
            <a:r>
              <a:rPr lang="en-GB" dirty="0">
                <a:highlight>
                  <a:srgbClr val="FFFF00"/>
                </a:highlight>
              </a:rPr>
              <a:t>notebook must be fully reproducible in a standard Google </a:t>
            </a:r>
            <a:r>
              <a:rPr lang="en-GB" dirty="0" err="1">
                <a:highlight>
                  <a:srgbClr val="FFFF00"/>
                </a:highlight>
              </a:rPr>
              <a:t>Colab</a:t>
            </a:r>
            <a:r>
              <a:rPr lang="en-GB" dirty="0">
                <a:highlight>
                  <a:srgbClr val="FFFF00"/>
                </a:highlight>
              </a:rPr>
              <a:t> environment</a:t>
            </a:r>
            <a:r>
              <a:rPr lang="en-GB" dirty="0"/>
              <a:t>. Any </a:t>
            </a:r>
            <a:r>
              <a:rPr lang="en-GB" dirty="0">
                <a:highlight>
                  <a:srgbClr val="00FFFF"/>
                </a:highlight>
              </a:rPr>
              <a:t>external libraries </a:t>
            </a:r>
            <a:r>
              <a:rPr lang="en-GB" dirty="0"/>
              <a:t>not included in </a:t>
            </a:r>
            <a:r>
              <a:rPr lang="en-GB" dirty="0" err="1"/>
              <a:t>Colab</a:t>
            </a:r>
            <a:r>
              <a:rPr lang="en-GB" dirty="0"/>
              <a:t> by default must be installable via a pip install command in an early code cell.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F9C0-56C4-E623-DDEA-A94CC6D7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ADD2E-3843-DBFF-FA89-09CAD3BA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79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99EE9-574B-E0D6-D25A-49B9F2D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3" y="1825625"/>
            <a:ext cx="1164275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Your submission must be a </a:t>
            </a:r>
            <a:r>
              <a:rPr lang="en-GB" b="1" dirty="0">
                <a:highlight>
                  <a:srgbClr val="00FF00"/>
                </a:highlight>
              </a:rPr>
              <a:t>single </a:t>
            </a:r>
            <a:r>
              <a:rPr lang="en-GB" b="1" dirty="0" err="1">
                <a:highlight>
                  <a:srgbClr val="00FF00"/>
                </a:highlight>
              </a:rPr>
              <a:t>Jupyter</a:t>
            </a:r>
            <a:r>
              <a:rPr lang="en-GB" b="1" dirty="0">
                <a:highlight>
                  <a:srgbClr val="00FF00"/>
                </a:highlight>
              </a:rPr>
              <a:t> Notebook </a:t>
            </a:r>
            <a:r>
              <a:rPr lang="en-GB" dirty="0"/>
              <a:t>containing all </a:t>
            </a:r>
            <a:r>
              <a:rPr lang="en-GB" dirty="0">
                <a:highlight>
                  <a:srgbClr val="00FF00"/>
                </a:highlight>
              </a:rPr>
              <a:t>code, narrative, and outputs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For the detailed submission structure please check “</a:t>
            </a:r>
            <a:r>
              <a:rPr lang="en-GB" b="1" dirty="0">
                <a:highlight>
                  <a:srgbClr val="FFFF00"/>
                </a:highlight>
              </a:rPr>
              <a:t>Submission Structure Section</a:t>
            </a:r>
            <a:r>
              <a:rPr lang="en-GB" dirty="0"/>
              <a:t>” in the </a:t>
            </a:r>
            <a:r>
              <a:rPr lang="en-GB" b="1" dirty="0">
                <a:highlight>
                  <a:srgbClr val="FFFF00"/>
                </a:highlight>
              </a:rPr>
              <a:t>Assessment Brief</a:t>
            </a:r>
            <a:r>
              <a:rPr lang="en-GB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C1C5B-E8D9-9153-6263-F2FF10F2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FF8E0-E2F6-5942-1798-0A7CD2E5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10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0AD6FD-54DC-8E7E-431D-78B86538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ASSIGNMENT REQUIREMENTS: Submission Structure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92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609B-3438-D902-1D84-2A5C7E99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Intended Learning Outcomes (ILOs)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DEBB-1B13-D9B5-3E88-67061F96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08" y="1825625"/>
            <a:ext cx="1144358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400" dirty="0"/>
              <a:t>Demonstrate an understanding of Machine Learning tasks where Deep Learning solutions are applied.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Demonstrate an understanding of common Deep Learning methods and models and their suitable applications.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Identify, select and apply Machine Learning and Deep Learning methods to solve complex real-world problems using state-of-the-art software tools and libraries.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Analyse and optimise the performance of Deep Learning solutions professionally in appreciation of their ethical, legal and social impacts.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D4DF3-4B69-62A0-7EB9-8CEE0D85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47CA8-6813-F178-2522-C42E0A41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00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D1D6-38DA-D273-6656-49DC6335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Submission Format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5F02-CD18-FE63-3786-3CDEAA2E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97" y="1403287"/>
            <a:ext cx="11760452" cy="47736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You must submit </a:t>
            </a:r>
            <a:r>
              <a:rPr lang="en-GB" sz="2000" dirty="0">
                <a:highlight>
                  <a:srgbClr val="00FF00"/>
                </a:highlight>
              </a:rPr>
              <a:t>two items via Brightspace</a:t>
            </a:r>
            <a:r>
              <a:rPr lang="en-GB" sz="2000" dirty="0"/>
              <a:t>. If </a:t>
            </a:r>
            <a:r>
              <a:rPr lang="en-GB" sz="2000" dirty="0">
                <a:highlight>
                  <a:srgbClr val="FFFF00"/>
                </a:highlight>
              </a:rPr>
              <a:t>any of these items is missing</a:t>
            </a:r>
            <a:r>
              <a:rPr lang="en-GB" sz="2000" dirty="0"/>
              <a:t>, </a:t>
            </a:r>
            <a:r>
              <a:rPr lang="en-GB" sz="2000" dirty="0">
                <a:highlight>
                  <a:srgbClr val="00FFFF"/>
                </a:highlight>
              </a:rPr>
              <a:t>you will be awarded 0 marks for the whole assignment</a:t>
            </a:r>
            <a:r>
              <a:rPr lang="en-GB" sz="2000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A </a:t>
            </a:r>
            <a:r>
              <a:rPr lang="en-GB" sz="2000" b="1" dirty="0"/>
              <a:t>single </a:t>
            </a:r>
            <a:r>
              <a:rPr lang="en-GB" sz="2000" b="1" dirty="0" err="1"/>
              <a:t>Jupyter</a:t>
            </a:r>
            <a:r>
              <a:rPr lang="en-GB" sz="2000" b="1" dirty="0"/>
              <a:t> Notebook (.</a:t>
            </a:r>
            <a:r>
              <a:rPr lang="en-GB" sz="2000" b="1" dirty="0" err="1"/>
              <a:t>ipynb</a:t>
            </a:r>
            <a:r>
              <a:rPr lang="en-GB" sz="2000" b="1" dirty="0"/>
              <a:t>) file</a:t>
            </a:r>
            <a:r>
              <a:rPr lang="en-GB" sz="2000" dirty="0"/>
              <a:t>. This notebook must be self-contained and reproducible. At the top of the notebook, you must clearly state: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Your </a:t>
            </a:r>
            <a:r>
              <a:rPr lang="en-GB" sz="2000" b="1" u="sng" dirty="0">
                <a:solidFill>
                  <a:srgbClr val="FF0000"/>
                </a:solidFill>
              </a:rPr>
              <a:t>Kaggle Username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Your </a:t>
            </a:r>
            <a:r>
              <a:rPr lang="en-GB" sz="2000" b="1" u="sng" dirty="0">
                <a:solidFill>
                  <a:srgbClr val="0033CC"/>
                </a:solidFill>
              </a:rPr>
              <a:t>final score </a:t>
            </a:r>
            <a:r>
              <a:rPr lang="en-GB" sz="2000" dirty="0"/>
              <a:t>on the </a:t>
            </a:r>
            <a:r>
              <a:rPr lang="en-GB" sz="2000" b="1" u="sng" dirty="0"/>
              <a:t>Kaggle private leaderboard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The </a:t>
            </a:r>
            <a:r>
              <a:rPr lang="en-GB" sz="2000" b="1" u="sng" dirty="0">
                <a:solidFill>
                  <a:srgbClr val="FF0000"/>
                </a:solidFill>
              </a:rPr>
              <a:t>total number of submissions</a:t>
            </a:r>
            <a:r>
              <a:rPr lang="en-GB" sz="2000" u="sng" dirty="0"/>
              <a:t> </a:t>
            </a:r>
            <a:r>
              <a:rPr lang="en-GB" sz="2000" dirty="0"/>
              <a:t>you </a:t>
            </a:r>
            <a:r>
              <a:rPr lang="en-GB" sz="2000" b="1" u="sng" dirty="0"/>
              <a:t>made to Kaggle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A </a:t>
            </a:r>
            <a:r>
              <a:rPr lang="en-GB" sz="2000" b="1" dirty="0">
                <a:highlight>
                  <a:srgbClr val="00FFFF"/>
                </a:highlight>
              </a:rPr>
              <a:t>10-minute video presentation</a:t>
            </a:r>
            <a:r>
              <a:rPr lang="en-GB" sz="2000" dirty="0">
                <a:highlight>
                  <a:srgbClr val="00FFFF"/>
                </a:highlight>
              </a:rPr>
              <a:t> (a compact .mp4 file) </a:t>
            </a:r>
            <a:r>
              <a:rPr lang="en-GB" sz="2000" dirty="0"/>
              <a:t>in which you </a:t>
            </a:r>
            <a:r>
              <a:rPr lang="en-GB" sz="2000" dirty="0">
                <a:highlight>
                  <a:srgbClr val="00FFFF"/>
                </a:highlight>
              </a:rPr>
              <a:t>walk through your </a:t>
            </a:r>
            <a:r>
              <a:rPr lang="en-GB" sz="2000" dirty="0" err="1">
                <a:highlight>
                  <a:srgbClr val="00FFFF"/>
                </a:highlight>
              </a:rPr>
              <a:t>Jupyter</a:t>
            </a:r>
            <a:r>
              <a:rPr lang="en-GB" sz="2000" dirty="0">
                <a:highlight>
                  <a:srgbClr val="00FFFF"/>
                </a:highlight>
              </a:rPr>
              <a:t> notebook</a:t>
            </a:r>
            <a:r>
              <a:rPr lang="en-GB" sz="2000" dirty="0"/>
              <a:t>, </a:t>
            </a:r>
            <a:r>
              <a:rPr lang="en-GB" sz="2000" dirty="0">
                <a:highlight>
                  <a:srgbClr val="00FFFF"/>
                </a:highlight>
              </a:rPr>
              <a:t>explaining your methodology</a:t>
            </a:r>
            <a:r>
              <a:rPr lang="en-GB" sz="2000" dirty="0"/>
              <a:t>, </a:t>
            </a:r>
            <a:r>
              <a:rPr lang="en-GB" sz="2000" dirty="0">
                <a:highlight>
                  <a:srgbClr val="FFFF00"/>
                </a:highlight>
              </a:rPr>
              <a:t>key experiments</a:t>
            </a:r>
            <a:r>
              <a:rPr lang="en-GB" sz="2000" dirty="0"/>
              <a:t>, </a:t>
            </a:r>
            <a:r>
              <a:rPr lang="en-GB" sz="2000" dirty="0">
                <a:highlight>
                  <a:srgbClr val="FF00FF"/>
                </a:highlight>
              </a:rPr>
              <a:t>final results</a:t>
            </a:r>
            <a:r>
              <a:rPr lang="en-GB" sz="2000" dirty="0"/>
              <a:t>, and </a:t>
            </a:r>
            <a:r>
              <a:rPr lang="en-GB" sz="2000" dirty="0">
                <a:highlight>
                  <a:srgbClr val="00FFFF"/>
                </a:highlight>
              </a:rPr>
              <a:t>critical reflections</a:t>
            </a:r>
            <a:r>
              <a:rPr lang="en-GB" sz="2000" dirty="0"/>
              <a:t>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B372-F164-526B-3521-373A5E82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869A9-78B6-79D7-43F3-4C881442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29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162E-242E-8958-4FEA-94804656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Submission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3465B-2792-CA78-6FF7-CA6D2D7B5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51" y="1530036"/>
            <a:ext cx="11497901" cy="464692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A </a:t>
            </a:r>
            <a:r>
              <a:rPr lang="en-GB" b="1" dirty="0">
                <a:highlight>
                  <a:srgbClr val="FFFF00"/>
                </a:highlight>
              </a:rPr>
              <a:t>submission template notebook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will be provided to help you structure and prepare your report for submission. </a:t>
            </a:r>
          </a:p>
          <a:p>
            <a:pPr algn="just">
              <a:lnSpc>
                <a:spcPct val="150000"/>
              </a:lnSpc>
            </a:pPr>
            <a:endParaRPr lang="en-GB" dirty="0"/>
          </a:p>
          <a:p>
            <a:pPr algn="just">
              <a:lnSpc>
                <a:spcPct val="150000"/>
              </a:lnSpc>
            </a:pPr>
            <a:r>
              <a:rPr lang="en-GB" dirty="0"/>
              <a:t>Please </a:t>
            </a:r>
            <a:r>
              <a:rPr lang="en-GB" dirty="0">
                <a:solidFill>
                  <a:srgbClr val="FF0000"/>
                </a:solidFill>
              </a:rPr>
              <a:t>ensure you use this template </a:t>
            </a:r>
            <a:r>
              <a:rPr lang="en-GB" dirty="0"/>
              <a:t>to </a:t>
            </a:r>
            <a:r>
              <a:rPr lang="en-GB" dirty="0">
                <a:solidFill>
                  <a:srgbClr val="0000FF"/>
                </a:solidFill>
              </a:rPr>
              <a:t>maintain consistency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meet the required formatting guidelines</a:t>
            </a:r>
            <a:r>
              <a:rPr lang="en-GB" dirty="0"/>
              <a:t>.</a:t>
            </a:r>
          </a:p>
          <a:p>
            <a:pPr algn="just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9DD31-7990-8298-D329-CEE4CDDD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87427-5C13-1BFF-6D4C-1668E70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39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1134B-750E-AA04-78DF-8CCFE5B1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en-GB" sz="2900" b="1"/>
              <a:t>Where to Find the Submission Template?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F53C-6EAA-64A0-6C68-DCFDA5B7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36" y="2508105"/>
            <a:ext cx="4709345" cy="3632493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/>
              <a:t>The </a:t>
            </a:r>
            <a:r>
              <a:rPr lang="en-GB" sz="2000" b="1" dirty="0">
                <a:highlight>
                  <a:srgbClr val="00FF00"/>
                </a:highlight>
              </a:rPr>
              <a:t>submission template notebook</a:t>
            </a:r>
            <a:r>
              <a:rPr lang="en-GB" sz="2000" dirty="0">
                <a:highlight>
                  <a:srgbClr val="00FF00"/>
                </a:highlight>
              </a:rPr>
              <a:t> </a:t>
            </a:r>
            <a:r>
              <a:rPr lang="en-GB" sz="2000" dirty="0"/>
              <a:t>will be made available on the </a:t>
            </a:r>
            <a:r>
              <a:rPr lang="en-GB" sz="2000" b="1" dirty="0">
                <a:highlight>
                  <a:srgbClr val="00FFFF"/>
                </a:highlight>
              </a:rPr>
              <a:t>unit’s Brightspace page</a:t>
            </a:r>
            <a:r>
              <a:rPr lang="en-GB" sz="2000" dirty="0"/>
              <a:t> under the </a:t>
            </a:r>
            <a:r>
              <a:rPr lang="en-GB" sz="2000" b="1" dirty="0">
                <a:highlight>
                  <a:srgbClr val="FFFF00"/>
                </a:highlight>
              </a:rPr>
              <a:t>Assessment</a:t>
            </a:r>
            <a:r>
              <a:rPr lang="en-GB" sz="2000" dirty="0">
                <a:highlight>
                  <a:srgbClr val="FFFF00"/>
                </a:highlight>
              </a:rPr>
              <a:t> section.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6B4B51-173C-504B-33B7-4CFF3F60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1" b="-2"/>
          <a:stretch>
            <a:fillRect/>
          </a:stretch>
        </p:blipFill>
        <p:spPr>
          <a:xfrm>
            <a:off x="6047832" y="566263"/>
            <a:ext cx="5403051" cy="521426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804E-0DC2-BC46-D7C7-5AA5D26C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ECE04-878E-0A3E-3273-AB9E915C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22EF5A9-EDE4-4C03-BE6B-F335C1805C15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987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6145-518B-4072-3404-1F3DBB31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Sample Notebook for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4935-D2DA-2A5D-E599-194A95E0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/>
              <a:t>A </a:t>
            </a:r>
            <a:r>
              <a:rPr lang="en-GB" sz="2400" b="1" dirty="0">
                <a:highlight>
                  <a:srgbClr val="00FFFF"/>
                </a:highlight>
              </a:rPr>
              <a:t>sample notebook</a:t>
            </a:r>
            <a:r>
              <a:rPr lang="en-GB" sz="2400" dirty="0">
                <a:highlight>
                  <a:srgbClr val="00FFFF"/>
                </a:highlight>
              </a:rPr>
              <a:t> </a:t>
            </a:r>
            <a:r>
              <a:rPr lang="en-GB" sz="2400" dirty="0"/>
              <a:t>will be provided to help you </a:t>
            </a:r>
            <a:r>
              <a:rPr lang="en-GB" sz="2400" b="1" dirty="0">
                <a:highlight>
                  <a:srgbClr val="FFFF00"/>
                </a:highlight>
              </a:rPr>
              <a:t>practice</a:t>
            </a:r>
            <a:r>
              <a:rPr lang="en-GB" sz="2400" dirty="0"/>
              <a:t> and </a:t>
            </a:r>
            <a:r>
              <a:rPr lang="en-GB" sz="2400" b="1" dirty="0">
                <a:highlight>
                  <a:srgbClr val="00FF00"/>
                </a:highlight>
              </a:rPr>
              <a:t>understand the overall submission process</a:t>
            </a:r>
            <a:r>
              <a:rPr lang="en-GB" sz="2400" dirty="0">
                <a:highlight>
                  <a:srgbClr val="00FF00"/>
                </a:highlight>
              </a:rPr>
              <a:t>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You will work on this sample notebook during the </a:t>
            </a:r>
            <a:r>
              <a:rPr lang="en-GB" sz="2400" b="1" dirty="0">
                <a:highlight>
                  <a:srgbClr val="00FFFF"/>
                </a:highlight>
              </a:rPr>
              <a:t>Lab session in Week 3</a:t>
            </a:r>
            <a:r>
              <a:rPr lang="en-GB" sz="2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466A8-86AA-A9CE-98F9-8D222B27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4916B-2526-C788-77C3-6DD2DEE4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707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425F-BB81-F24F-218A-7CA217A7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641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How will this be assessed?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3D79E-7632-3062-2F72-9323B1C1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1F05-6183-E7E5-CB40-E4415588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74DE7A-6931-76DD-549E-6C081040B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964686"/>
              </p:ext>
            </p:extLst>
          </p:nvPr>
        </p:nvGraphicFramePr>
        <p:xfrm>
          <a:off x="107132" y="1287258"/>
          <a:ext cx="11977735" cy="486825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395545">
                  <a:extLst>
                    <a:ext uri="{9D8B030D-6E8A-4147-A177-3AD203B41FA5}">
                      <a16:colId xmlns:a16="http://schemas.microsoft.com/office/drawing/2014/main" val="830455154"/>
                    </a:ext>
                  </a:extLst>
                </a:gridCol>
                <a:gridCol w="8059514">
                  <a:extLst>
                    <a:ext uri="{9D8B030D-6E8A-4147-A177-3AD203B41FA5}">
                      <a16:colId xmlns:a16="http://schemas.microsoft.com/office/drawing/2014/main" val="3646796178"/>
                    </a:ext>
                  </a:extLst>
                </a:gridCol>
                <a:gridCol w="737092">
                  <a:extLst>
                    <a:ext uri="{9D8B030D-6E8A-4147-A177-3AD203B41FA5}">
                      <a16:colId xmlns:a16="http://schemas.microsoft.com/office/drawing/2014/main" val="3430793917"/>
                    </a:ext>
                  </a:extLst>
                </a:gridCol>
                <a:gridCol w="785584">
                  <a:extLst>
                    <a:ext uri="{9D8B030D-6E8A-4147-A177-3AD203B41FA5}">
                      <a16:colId xmlns:a16="http://schemas.microsoft.com/office/drawing/2014/main" val="3629658088"/>
                    </a:ext>
                  </a:extLst>
                </a:gridCol>
              </a:tblGrid>
              <a:tr h="477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Element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Criterion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Mark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ILO(s)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354106"/>
                  </a:ext>
                </a:extLst>
              </a:tr>
              <a:tr h="5572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Video presentation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Clarity of Explanation &amp; Walkthrough: The quality of the walkthrough of the code, key results, and the ability to articulate project's narrative and findings.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15%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2,3,4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036222"/>
                  </a:ext>
                </a:extLst>
              </a:tr>
              <a:tr h="477365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Kaggle Performance &amp; Code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Kaggle Performance &amp; Effort: A combination of the final accuracy on the private leaderboard and the number, frequency and diversity of submissions.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3,4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206911"/>
                  </a:ext>
                </a:extLst>
              </a:tr>
              <a:tr h="47736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Code &amp; Notebook Quality: Complexity, correctness, and reproducibility of the PyTorch implementation.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3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462725"/>
                  </a:ext>
                </a:extLst>
              </a:tr>
              <a:tr h="477365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Analysis and Experimentation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Problem &amp; Baseline Analysis: Justification for using deep learning and a well-reasoned baseline model.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1,3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66914"/>
                  </a:ext>
                </a:extLst>
              </a:tr>
              <a:tr h="47736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State-of-the-Art Architecture Analysis: Quality of research and comparison of pre-trained models.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1,2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74376"/>
                  </a:ext>
                </a:extLst>
              </a:tr>
              <a:tr h="47736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Depth and Rigour of Experiments: Quality of the 10+ experiments, including narrative, analysis, and results.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20%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4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859265"/>
                  </a:ext>
                </a:extLst>
              </a:tr>
              <a:tr h="477365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Evaluation and Reporting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Final Model Evaluation: Critical evaluation of the best model's performance and insightful discussion of ethical, legal, and social impacts.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2,4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004373"/>
                  </a:ext>
                </a:extLst>
              </a:tr>
              <a:tr h="47736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Application and Interpretation of XAI: Correct application and insightful interpretation of explainability methods.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10%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2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42063"/>
                  </a:ext>
                </a:extLst>
              </a:tr>
              <a:tr h="47736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Report Professionalism &amp; Conclusion: Overall structure, clarity, and quality of the final conclusions.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5%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4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69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10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6-7E8C-4CF4-29E7-79EBBAD9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Questions about this assessment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4647-0B55-B5C0-1596-195E414A4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540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/>
              <a:t>You are encouraged to ask questions about the brief as early as possible during </a:t>
            </a:r>
            <a:r>
              <a:rPr lang="en-GB" dirty="0">
                <a:highlight>
                  <a:srgbClr val="00FFFF"/>
                </a:highlight>
              </a:rPr>
              <a:t>timetabled sessions</a:t>
            </a:r>
            <a:r>
              <a:rPr lang="en-GB" dirty="0"/>
              <a:t>, </a:t>
            </a:r>
            <a:r>
              <a:rPr lang="en-GB" dirty="0">
                <a:highlight>
                  <a:srgbClr val="00FF00"/>
                </a:highlight>
              </a:rPr>
              <a:t>office hours </a:t>
            </a:r>
            <a:r>
              <a:rPr lang="en-GB" dirty="0"/>
              <a:t>and </a:t>
            </a:r>
            <a:r>
              <a:rPr lang="en-GB" dirty="0">
                <a:highlight>
                  <a:srgbClr val="FFFF00"/>
                </a:highlight>
              </a:rPr>
              <a:t>electronically via email and Teams chat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BD1A5-C54E-8A0D-8520-6DA839B7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C2F32-A58D-A2A6-919D-3E846213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771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6BE3-9939-9420-A0F1-253F0E57F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GB" b="1" dirty="0"/>
              <a:t>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8067-793F-9482-D63F-BF9D7471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My office hours for this term are as follows: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Tuesday:</a:t>
            </a:r>
            <a:r>
              <a:rPr lang="en-GB" dirty="0"/>
              <a:t> 2:00 – 3:00 PM</a:t>
            </a:r>
          </a:p>
          <a:p>
            <a:pPr marL="0" indent="0">
              <a:buNone/>
            </a:pPr>
            <a:r>
              <a:rPr lang="en-GB" b="1" dirty="0"/>
              <a:t>Wednesday:</a:t>
            </a:r>
            <a:r>
              <a:rPr lang="en-GB" dirty="0"/>
              <a:t> 10:00 – 11:00 AM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Please </a:t>
            </a:r>
            <a:r>
              <a:rPr lang="en-GB" b="1" dirty="0"/>
              <a:t>email me at </a:t>
            </a:r>
            <a:r>
              <a:rPr lang="en-GB" b="1" dirty="0">
                <a:hlinkClick r:id="rId2"/>
              </a:rPr>
              <a:t>hpandey@bournemouth.ac.uk</a:t>
            </a:r>
            <a:r>
              <a:rPr lang="en-GB" b="1" dirty="0"/>
              <a:t> </a:t>
            </a:r>
            <a:r>
              <a:rPr lang="en-GB" dirty="0"/>
              <a:t> in advance to </a:t>
            </a:r>
            <a:r>
              <a:rPr lang="en-GB" b="1" dirty="0"/>
              <a:t>book an appointment</a:t>
            </a:r>
            <a:r>
              <a:rPr lang="en-GB" dirty="0"/>
              <a:t> before attending.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31E3A-F348-D3EF-701B-4744E897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Dr H. M.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578A7-E549-50CF-66E0-9DA866A5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F5A9-EDE4-4C03-BE6B-F335C1805C1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095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D0DB28-E53C-4B70-8ABC-8C0A6D528D29}"/>
              </a:ext>
            </a:extLst>
          </p:cNvPr>
          <p:cNvSpPr/>
          <p:nvPr/>
        </p:nvSpPr>
        <p:spPr>
          <a:xfrm>
            <a:off x="2689934" y="1917577"/>
            <a:ext cx="6853561" cy="26988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44ED6-0983-4083-B388-D57D7EBB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r>
              <a:rPr lang="en-GB" dirty="0"/>
              <a:t>Dr H. M. Pandey</a:t>
            </a:r>
          </a:p>
        </p:txBody>
      </p:sp>
      <p:pic>
        <p:nvPicPr>
          <p:cNvPr id="7" name="Picture 2" descr="Bournemouth University - Southern Universities Network">
            <a:extLst>
              <a:ext uri="{FF2B5EF4-FFF2-40B4-BE49-F238E27FC236}">
                <a16:creationId xmlns:a16="http://schemas.microsoft.com/office/drawing/2014/main" id="{F032225C-1610-480E-A634-839075EA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244" y="6317686"/>
            <a:ext cx="1601755" cy="5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3DFDF1D-CD61-4DC7-8639-2D43752E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420" y="260420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206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2522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2611</TotalTime>
  <Words>1360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PowerPoint Presentation</vt:lpstr>
      <vt:lpstr>Outline</vt:lpstr>
      <vt:lpstr>Introduction to Coursework Brief</vt:lpstr>
      <vt:lpstr>Use of Generative AI Tools</vt:lpstr>
      <vt:lpstr>Tasks</vt:lpstr>
      <vt:lpstr>Background</vt:lpstr>
      <vt:lpstr>DATASET</vt:lpstr>
      <vt:lpstr>KAGGLE COMPETITION</vt:lpstr>
      <vt:lpstr>ASSIGNMENT REQUIREMENTS: Technical Constraints</vt:lpstr>
      <vt:lpstr>ASSIGNMENT REQUIREMENTS: Submission Structure</vt:lpstr>
      <vt:lpstr>Intended Learning Outcomes (ILOs)</vt:lpstr>
      <vt:lpstr>Submission Format</vt:lpstr>
      <vt:lpstr>Submission Template</vt:lpstr>
      <vt:lpstr>Where to Find the Submission Template?</vt:lpstr>
      <vt:lpstr>Sample Notebook for Practice </vt:lpstr>
      <vt:lpstr>How will this be assessed?</vt:lpstr>
      <vt:lpstr>Questions about this assessment</vt:lpstr>
      <vt:lpstr>Office Hours</vt:lpstr>
      <vt:lpstr>Thank You!</vt:lpstr>
    </vt:vector>
  </TitlesOfParts>
  <Company>Bournemouth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Presentation</dc:title>
  <dc:creator>Hari Pandey</dc:creator>
  <cp:lastModifiedBy>Hari Pandey</cp:lastModifiedBy>
  <cp:revision>59</cp:revision>
  <dcterms:created xsi:type="dcterms:W3CDTF">2022-09-08T21:35:26Z</dcterms:created>
  <dcterms:modified xsi:type="dcterms:W3CDTF">2025-10-11T20:48:26Z</dcterms:modified>
</cp:coreProperties>
</file>